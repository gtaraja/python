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/>
            </a:pPr>
            <a:r>
              <a:t>X‑Bot</a:t>
            </a:r>
          </a:p>
          <a:p>
            <a:pPr algn="ctr">
              <a:defRPr sz="2600"/>
            </a:pPr>
            <a:r>
              <a:t>AI Assistant for Enterprise Data &amp;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743200" cy="1463040"/>
          </a:xfrm>
          <a:prstGeom prst="roundRect">
            <a:avLst/>
          </a:prstGeom>
          <a:solidFill>
            <a:srgbClr val="D6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Natural Language → SQL</a:t>
            </a:r>
          </a:p>
          <a:p>
            <a:pPr lvl="1">
              <a:defRPr sz="1500"/>
            </a:pPr>
            <a:r>
              <a:t>Ask questions in English. X‑Bot generates and runs SQL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2743200" cy="1463040"/>
          </a:xfrm>
          <a:prstGeom prst="roundRect">
            <a:avLst/>
          </a:prstGeom>
          <a:solidFill>
            <a:srgbClr val="E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Smart System Detection</a:t>
            </a:r>
          </a:p>
          <a:p>
            <a:pPr lvl="1">
              <a:defRPr sz="1500"/>
            </a:pPr>
            <a:r>
              <a:t>AI detects which enterprise system or database contains the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2743200" cy="1463040"/>
          </a:xfrm>
          <a:prstGeom prst="roundRect">
            <a:avLst/>
          </a:prstGeom>
          <a:solidFill>
            <a:srgbClr val="D6F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Metadata‑Aware AI</a:t>
            </a:r>
          </a:p>
          <a:p>
            <a:pPr lvl="1">
              <a:defRPr sz="1500"/>
            </a:pPr>
            <a:r>
              <a:t>Understands schemas and relationships for accurate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291840"/>
            <a:ext cx="4023360" cy="2743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/>
            </a:pPr>
            <a:r>
              <a:t>X‑Bot AI Engine</a:t>
            </a:r>
          </a:p>
          <a:p>
            <a:pPr algn="ctr">
              <a:defRPr sz="1800"/>
            </a:pPr>
            <a:r>
              <a:t>User Question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1800"/>
            </a:pPr>
            <a:r>
              <a:t>Agentic AI + Tools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1800"/>
            </a:pPr>
            <a:r>
              <a:t>SQL / API Execution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1800"/>
            </a:pPr>
            <a:r>
              <a:t>Natural Language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91840"/>
            <a:ext cx="201168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Use Case</a:t>
            </a:r>
          </a:p>
          <a:p>
            <a:pPr lvl="1">
              <a:defRPr sz="1500"/>
            </a:pPr>
            <a:r>
              <a:t>Ask: 'Top 5 selling products last month?' and get instant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937760"/>
            <a:ext cx="201168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Agentic AI</a:t>
            </a:r>
          </a:p>
          <a:p>
            <a:pPr lvl="1">
              <a:defRPr sz="1500"/>
            </a:pPr>
            <a:r>
              <a:t>LLM + tools + validation for enterprise safe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291840"/>
            <a:ext cx="201168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Enterprise Ready</a:t>
            </a:r>
          </a:p>
          <a:p>
            <a:pPr lvl="1">
              <a:defRPr sz="1500"/>
            </a:pPr>
            <a:r>
              <a:t>Secure database execution with scalable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937760"/>
            <a:ext cx="2011680" cy="14630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/>
            </a:pPr>
            <a:r>
              <a:t>Capabilities</a:t>
            </a:r>
          </a:p>
          <a:p>
            <a:pPr lvl="1">
              <a:defRPr sz="1500"/>
            </a:pPr>
            <a:r>
              <a:t>NL→SQL • Multi‑DB • API Execution •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